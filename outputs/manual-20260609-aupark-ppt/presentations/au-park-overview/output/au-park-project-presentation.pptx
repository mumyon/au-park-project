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0692e883e484d" /><Relationship Type="http://schemas.openxmlformats.org/officeDocument/2006/relationships/extended-properties" Target="/docProps/app.xml" Id="R89730285d3d645e0" /><Relationship Type="http://schemas.openxmlformats.org/officeDocument/2006/relationships/officeDocument" Target="/ppt/presentation.xml" Id="R346930daf6be46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b3c10f8f04c2a"/>
  </p:sldMasterIdLst>
  <p:notesMasterIdLst>
    <p:notesMasterId xmlns:r="http://schemas.openxmlformats.org/officeDocument/2006/relationships" r:id="R341e1aa77875469a"/>
  </p:notesMasterIdLst>
  <p:sldIdLst>
    <p:sldId xmlns:r="http://schemas.openxmlformats.org/officeDocument/2006/relationships" id="256" r:id="R50d3b8a03f67475e"/>
    <p:sldId xmlns:r="http://schemas.openxmlformats.org/officeDocument/2006/relationships" id="257" r:id="R87fab735c9244fe3"/>
    <p:sldId xmlns:r="http://schemas.openxmlformats.org/officeDocument/2006/relationships" id="258" r:id="R7dc0882377e54751"/>
    <p:sldId xmlns:r="http://schemas.openxmlformats.org/officeDocument/2006/relationships" id="259" r:id="R74f0c07840104cc6"/>
    <p:sldId xmlns:r="http://schemas.openxmlformats.org/officeDocument/2006/relationships" id="260" r:id="R2928155f367a4a2c"/>
    <p:sldId xmlns:r="http://schemas.openxmlformats.org/officeDocument/2006/relationships" id="261" r:id="Rf91364fea9a8463b"/>
    <p:sldId xmlns:r="http://schemas.openxmlformats.org/officeDocument/2006/relationships" id="262" r:id="Rb76d9001833f4bc9"/>
    <p:sldId xmlns:r="http://schemas.openxmlformats.org/officeDocument/2006/relationships" id="263" r:id="R21360fc8f0d0440f"/>
    <p:sldId xmlns:r="http://schemas.openxmlformats.org/officeDocument/2006/relationships" id="264" r:id="R3e4b66f077ea4448"/>
    <p:sldId xmlns:r="http://schemas.openxmlformats.org/officeDocument/2006/relationships" id="265" r:id="R141fba2ba3084d6e"/>
    <p:sldId xmlns:r="http://schemas.openxmlformats.org/officeDocument/2006/relationships" id="266" r:id="Re4c98acd0df24f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207fb6a90b4994" /><Relationship Type="http://schemas.openxmlformats.org/officeDocument/2006/relationships/slideMaster" Target="/ppt/slideMasters/slideMaster1.xml" Id="R572b3c10f8f04c2a" /><Relationship Type="http://schemas.openxmlformats.org/officeDocument/2006/relationships/notesMaster" Target="/ppt/notesMasters/notesMaster1.xml" Id="R341e1aa77875469a" /><Relationship Type="http://schemas.openxmlformats.org/officeDocument/2006/relationships/presProps" Target="/ppt/presProps.xml" Id="Rd8c1239d6a2940fd" /><Relationship Type="http://schemas.openxmlformats.org/officeDocument/2006/relationships/viewProps" Target="/ppt/viewProps.xml" Id="R7ce9d2aeccc54a9f" /><Relationship Type="http://schemas.openxmlformats.org/officeDocument/2006/relationships/tableStyles" Target="/ppt/tableStyles.xml" Id="R2154ac0b8ec9410a" /><Relationship Type="http://schemas.openxmlformats.org/officeDocument/2006/relationships/slide" Target="/ppt/slides/slide1.xml" Id="R50d3b8a03f67475e" /><Relationship Type="http://schemas.openxmlformats.org/officeDocument/2006/relationships/slide" Target="/ppt/slides/slide2.xml" Id="R87fab735c9244fe3" /><Relationship Type="http://schemas.openxmlformats.org/officeDocument/2006/relationships/slide" Target="/ppt/slides/slide3.xml" Id="R7dc0882377e54751" /><Relationship Type="http://schemas.openxmlformats.org/officeDocument/2006/relationships/slide" Target="/ppt/slides/slide4.xml" Id="R74f0c07840104cc6" /><Relationship Type="http://schemas.openxmlformats.org/officeDocument/2006/relationships/slide" Target="/ppt/slides/slide5.xml" Id="R2928155f367a4a2c" /><Relationship Type="http://schemas.openxmlformats.org/officeDocument/2006/relationships/slide" Target="/ppt/slides/slide6.xml" Id="Rf91364fea9a8463b" /><Relationship Type="http://schemas.openxmlformats.org/officeDocument/2006/relationships/slide" Target="/ppt/slides/slide7.xml" Id="Rb76d9001833f4bc9" /><Relationship Type="http://schemas.openxmlformats.org/officeDocument/2006/relationships/slide" Target="/ppt/slides/slide8.xml" Id="R21360fc8f0d0440f" /><Relationship Type="http://schemas.openxmlformats.org/officeDocument/2006/relationships/slide" Target="/ppt/slides/slide9.xml" Id="R3e4b66f077ea4448" /><Relationship Type="http://schemas.openxmlformats.org/officeDocument/2006/relationships/slide" Target="/ppt/slides/slide10.xml" Id="R141fba2ba3084d6e" /><Relationship Type="http://schemas.openxmlformats.org/officeDocument/2006/relationships/slide" Target="/ppt/slides/slide11.xml" Id="Re4c98acd0df24f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e6d0ea1534f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7ffdf2cc5c45a2" /><Relationship Type="http://schemas.openxmlformats.org/officeDocument/2006/relationships/notesMaster" Target="/ppt/notesMasters/notesMaster1.xml" Id="Re93471238078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a47142d688477f" /><Relationship Type="http://schemas.openxmlformats.org/officeDocument/2006/relationships/notesMaster" Target="/ppt/notesMasters/notesMaster1.xml" Id="R94188dbfccce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6c68ae4bf14db1" /><Relationship Type="http://schemas.openxmlformats.org/officeDocument/2006/relationships/notesMaster" Target="/ppt/notesMasters/notesMaster1.xml" Id="Rc25792b51ebd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a14b07e26549bd" /><Relationship Type="http://schemas.openxmlformats.org/officeDocument/2006/relationships/notesMaster" Target="/ppt/notesMasters/notesMaster1.xml" Id="R1ca48dc57beb44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927a851af145bb" /><Relationship Type="http://schemas.openxmlformats.org/officeDocument/2006/relationships/notesMaster" Target="/ppt/notesMasters/notesMaster1.xml" Id="R83246f2249f4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07c07332c646f6" /><Relationship Type="http://schemas.openxmlformats.org/officeDocument/2006/relationships/notesMaster" Target="/ppt/notesMasters/notesMaster1.xml" Id="R40b6dea7218947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d5eec7bcba487b" /><Relationship Type="http://schemas.openxmlformats.org/officeDocument/2006/relationships/notesMaster" Target="/ppt/notesMasters/notesMaster1.xml" Id="R34ac1858419841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4652ceb4e34633" /><Relationship Type="http://schemas.openxmlformats.org/officeDocument/2006/relationships/notesMaster" Target="/ppt/notesMasters/notesMaster1.xml" Id="R0af3a89127fe49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558cde7273457b" /><Relationship Type="http://schemas.openxmlformats.org/officeDocument/2006/relationships/notesMaster" Target="/ppt/notesMasters/notesMaster1.xml" Id="R51a31ffa5c4e40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4a84eb06474161" /><Relationship Type="http://schemas.openxmlformats.org/officeDocument/2006/relationships/notesMaster" Target="/ppt/notesMasters/notesMaster1.xml" Id="Rf3e2ddb517ba49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2ab5a8eb24484a" /><Relationship Type="http://schemas.openxmlformats.org/officeDocument/2006/relationships/notesMaster" Target="/ppt/notesMasters/notesMaster1.xml" Id="R4cb0e5b9d432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05c321cc1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e185c819d427f" /><Relationship Type="http://schemas.openxmlformats.org/officeDocument/2006/relationships/slideLayout" Target="/ppt/slideLayouts/slideLayout1.xml" Id="R80ab1979567f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ab1979567f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0f71ed4c5415c" /><Relationship Type="http://schemas.openxmlformats.org/officeDocument/2006/relationships/image" Target="/ppt/media/image.jpeg" Id="R2a27d544f989481f" /><Relationship Type="http://schemas.openxmlformats.org/officeDocument/2006/relationships/notesSlide" Target="/ppt/notesSlides/notesSlide1.xml" Id="Rba08d1d8e78c49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a79b39fe9491f" /><Relationship Type="http://schemas.openxmlformats.org/officeDocument/2006/relationships/notesSlide" Target="/ppt/notesSlides/notesSlide2.xml" Id="Rda5b24c5337440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5d767f3c4d27" /><Relationship Type="http://schemas.openxmlformats.org/officeDocument/2006/relationships/notesSlide" Target="/ppt/notesSlides/notesSlide3.xml" Id="Rabfd7765ee544c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18d7200c64045" /><Relationship Type="http://schemas.openxmlformats.org/officeDocument/2006/relationships/notesSlide" Target="/ppt/notesSlides/notesSlide4.xml" Id="R5b8e1c2e90d94f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5f0b01027480f" /><Relationship Type="http://schemas.openxmlformats.org/officeDocument/2006/relationships/notesSlide" Target="/ppt/notesSlides/notesSlide5.xml" Id="Rbb5decb5c30b48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2132dbea54a42" /><Relationship Type="http://schemas.openxmlformats.org/officeDocument/2006/relationships/notesSlide" Target="/ppt/notesSlides/notesSlide6.xml" Id="R948a5d0444a549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8a874562a46e7" /><Relationship Type="http://schemas.openxmlformats.org/officeDocument/2006/relationships/notesSlide" Target="/ppt/notesSlides/notesSlide7.xml" Id="Rb997b3a19a6b41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71f5beeaf4d5f" /><Relationship Type="http://schemas.openxmlformats.org/officeDocument/2006/relationships/notesSlide" Target="/ppt/notesSlides/notesSlide8.xml" Id="R4421b379cd6041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f47171db84566" /><Relationship Type="http://schemas.openxmlformats.org/officeDocument/2006/relationships/notesSlide" Target="/ppt/notesSlides/notesSlide9.xml" Id="Rf4bc5311714840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679f13f2e461d" /><Relationship Type="http://schemas.openxmlformats.org/officeDocument/2006/relationships/notesSlide" Target="/ppt/notesSlides/notesSlide10.xml" Id="Re71de626cf754f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4d3987f84cf4" /><Relationship Type="http://schemas.openxmlformats.org/officeDocument/2006/relationships/notesSlide" Target="/ppt/notesSlides/notesSlide11.xml" Id="R98a507c3a53742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E0EEC0-6E17-452A-8A7E-FEDE9CA6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90A06-0C1B-4753-B405-ECB27FF1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30F1E-BF83-40D3-B9E3-6C4F367B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42BAA-3A97-43C4-A160-2C68012E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EF0-25D5-4E5B-8BE3-29CAF7B1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7D21-98AF-4A1F-AD89-4A8C510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A5425-AEF8-4BBA-BD1C-9178EFE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438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7d544f989481f"/>
          <a:stretch xmlns:a="http://schemas.openxmlformats.org/drawingml/2006/main"/>
        </p:blipFill>
        <p:spPr>
          <a:xfrm xmlns:a="http://schemas.openxmlformats.org/drawingml/2006/main">
            <a:off x="60960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57279-5BA7-406E-AF54-2A36AAB3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Au-Park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738B6-2CF4-4365-A6D8-3D527244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190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86000"/>
                  </a:srgbClr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>
                    <a:alpha val="86000"/>
                  </a:srgbClr>
                </a:solidFill>
                <a:latin typeface="Apple SD Gothic Neo"/>
                <a:ea typeface="Apple SD Gothic Neo"/>
                <a:cs typeface="Apple SD Gothic Neo"/>
              </a:rPr>
              <a:t>스마트 주차 시스템 프로젝트 발표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59204-C14C-41D9-8058-8385FE0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Flutter 앱, FastAPI 서버, OpenCV 비전 워커를 연결해 차량 등록부터 번호판 인식 입출차와 자동정산까지 처리하는 테스트 가능한 시스템입니다.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C9581-5C38-4348-A1DE-484FB8F4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1504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5FAC7-22FE-4B21-8EE1-5BD82DF1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C9495-C1C1-4CC2-A4B0-3F32FA57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핵심 구성</a:t>
            </a:r>
          </a:p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App / API / 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D1B82-8C3D-47F3-A722-945F6903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1504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5E7D2-D5BF-455D-BF07-8062836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95575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821DF-1D3B-4D5C-8A2F-31C9FEB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문서 섹션을</a:t>
            </a:r>
          </a:p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발표 흐름으로 압축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43DDC-82E4-4694-AECB-A8596F41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52700"/>
            <a:ext cx="1504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D4A3F-C771-439B-9627-1F672F70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95575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57225-684D-4D84-BFCD-F029F52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24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현장 테스트 중심</a:t>
            </a:r>
          </a:p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MacBook 서버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25F05-4EEE-4ADC-8946-EAF07722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24630-55D2-4B19-A649-29C595B0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Flutter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0D977-969F-469F-B5AC-F2F18BD9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23AD0-8D1C-4E2B-AEF6-45E49E9A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529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B6FF0-1EC7-4732-8944-3B30A916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90B6C-2B1A-4934-A1C2-37810250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529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Firebase RTDB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084C64-950C-4E7A-9CC5-68B56A6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957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0"/>
          </a:solidFill>
          <a:ln xmlns:a="http://schemas.openxmlformats.org/drawingml/2006/main" w="9525">
            <a:solidFill>
              <a:srgbClr val="CBE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E9A9F-6894-4225-BFFA-09F7E288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529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OpenCV / EasyOCR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1B9270-0DE8-4831-8611-733F2B41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245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작성일 2026-06-09 · Repository: Au-Park-project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FAA22-DA5E-4252-9B0A-16D4CFB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7DE013-985A-4713-8A5E-6E462262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0875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A5A3F-7B26-45C4-87E0-790D2EE3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8A8B1-D579-4E88-8D53-215D4996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E4602-F4F9-492C-BADC-5A1C3DA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72801-0E7F-4C30-AC37-80D163C6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EEACD-C530-44A1-9E58-004C48E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PROJECT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E547-46DF-4AB9-A005-A3C18D40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사전정산 앱에서 자동 입출차 시스템으로 확장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9E4E4-7776-4334-B4BA-F278B98C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사용자가 앱에서 준비한 데이터가 카메라 인식 이벤트와 결합되면, 주차 과정은 자동으로 기록되고 정산됩니다.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568E1-C024-4F63-BCAA-DEB80B8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3337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38256-387D-400C-81FF-DF5AC13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기존 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1188A-015B-4169-9DA5-B22CD08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9908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사전정산만 있으면 출차가 늦어졌을 때 추가요금 처리가 어색하고, 카메라 인식 결과가 앱 현황과 즉시 연결되지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CC8BF-984C-489A-97B1-E5258E5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638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C914C-658F-4647-BB11-69E8759F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수동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21EE0-EC0F-4023-BE2B-2A49F6C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3702A-9390-4423-993E-D095976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577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요금 불일치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E6DCF-78C9-4594-85BA-63B58148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3337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6"/>
          </a:solidFill>
          <a:ln xmlns:a="http://schemas.openxmlformats.org/drawingml/2006/main" w="9525">
            <a:solidFill>
              <a:srgbClr val="CBE8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14FD0-EA6E-42F0-BF0E-58E04719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52675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개선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5B43A-FA27-48C4-80D9-61FA8072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29908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등록 차량이면 번호판 인식 시 입차 세션을 만들고, 다시 인식되면 이미 낸 금액을 뺀 차액만 자동정산합니다.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ED86E-3070-44B7-AFFA-2E996653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00575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B3795-FFD6-4C58-B915-65AB0E7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577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LPR auto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BB141-E54B-4199-9AD5-63BFD58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0575"/>
            <a:ext cx="638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CF39C-E690-4874-B686-0212D3EE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57725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차액 결제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FF6B3-D5D1-474C-8CE0-D374E027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3337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7FB4E-0855-4906-8F45-5311D707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2675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발표 핵심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FD303-DB64-4034-BB8C-A7CCD66C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9908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앱, 서버, DB, 비전 워커가 어떤 책임을 갖고 통신하는지와 테스트/배포 흐름을 한 번에 설명합니다.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5E684-B669-4F89-ABDF-6C30997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005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35B8E-844B-4801-AA30-55B37CAD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577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BD753-862C-45D3-AAFC-785FB876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00575"/>
            <a:ext cx="638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5BA28-EEAF-4106-84E3-112BE7ED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57725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시연 흐름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0707F-4963-42C2-907E-A9F84C25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400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A52A1-1EAD-4D3D-88DA-1F775F19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30분 무료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19AFDF-432C-42B2-B569-0AD6BD48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기본 정책의 시작점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484B6E-BC9A-418A-9845-174210D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86375"/>
            <a:ext cx="2400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F926C-2988-4485-AE44-72044779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292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1,500원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AC308-88E3-4CD8-A717-C2CF8569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857875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31~60분 기본요금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648FAE-52FA-48F9-AB7D-DCE72709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86375"/>
            <a:ext cx="2400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ED9CFE-1074-4F7F-932D-D16E6B7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292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500원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A5D4F7-0254-4CF1-9A43-BE32117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57875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이후 10분마다 추가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759C6E-80E8-4E77-A12D-9FF9D584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8DE129-75F3-43F8-AFD2-2646D4F4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사용자는 차량/카드 등록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7C1117-79E9-4FC2-8F64-0C8A3EBF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57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61FABE-8C56-484C-B202-93A6E1E1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5816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카메라는 번호판 이벤트 전송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92E974-4E5A-4A38-A4A3-AAF07B69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24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69EAEA-2705-48E6-9F24-25B9647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483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서버는 현재 세션과 결제 차액 계산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4BBD70-9CE9-46BA-9665-25CF774F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072ADC-CDF8-4B09-A939-5573326F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7815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0CCF26-748A-45DF-9CA2-DBB2ACC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36C77-F646-4F41-94EA-B746220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BF0A6-3541-4E15-8D15-6845BEF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25D27-599C-4375-BA8F-A0FF1478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9868E-0FA7-4FFF-ADE1-51877A88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SYSTEM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12C4C-C46F-4339-9113-2B18141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전체 아키텍처는 앱, 서버, 저장소, 비전 워커의 역할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BE030-BC99-42B3-B383-97F2AA78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Flutter는 사용자 경험, FastAPI는 비즈니스 판단, Firebase는 저장, Vision Worker는 카메라 이벤트를 담당합니다.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33245-3BFE-4A6C-A9F2-171D47E4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6EF47-DDAC-4646-9E8A-26042D90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Flutter 모바일 앱</a:t>
            </a:r>
          </a:p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로그인 · 차량 등록 · 결제수단 · 홈 현황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DB982-93A4-41B2-8ABB-6294ECA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1D64D-3168-4141-A526-FC57D9D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B6B5C-6473-4E57-B886-7DD20D25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2152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FastAPI 서버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인증 · 세션 · 요금 · 결제 · LPR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4FA68-C7C5-46D4-A75B-154094DE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5F4F9-9E19-4B13-B9A4-AD96DD73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361E5-6870-4B03-98A7-0605A3A3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47925"/>
            <a:ext cx="205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Firebase RTDB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users · vehicles · parking_sessions · payments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69B96-DC31-4844-A521-F24C2469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DD886-AB72-4058-AFD2-042FFF90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38675"/>
            <a:ext cx="2343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Vision Worker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OpenCV · EasyOCR · 카메라 프레임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3A99F-5F57-4D37-95E6-9FB2640B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672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/lpr/auto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F5786-E9FB-42A7-AB1D-BCC0A6D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E7D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459F4-9776-4B56-95FB-CA6A3508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입출차 이벤트</a:t>
            </a:r>
          </a:p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활성 세션 없음: 입차</a:t>
            </a:r>
          </a:p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활성 세션 있음: 출차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C77B7-0F16-48A5-9FC9-DBD2A18E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핵심 판단은 서버가 수행합니다. 앱과 비전 워커는 토큰/번호판/사용자 입력을 전달하고, 서버가 DB 기준으로 신뢰 가능한 결과를 만듭니다.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49103-5578-4A2F-B75B-27A35ADA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0AAB4-D295-4AC0-BA9C-E9617CD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36328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75377-2BE1-4599-A138-645A76A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230F1-C05C-4127-8828-CB779913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48347-0E56-483B-8123-3B69081F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E042E-EF21-4A57-9707-B9DDE0E8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2EDE-2C0C-4E69-831E-A6657FFF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F2E4E-5659-4740-8E89-B5057B7D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개발 스택은 현장 테스트 가능한 조합으로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748E8-F310-4439-8A97-331EA804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로컬 MacBook 서버와 실제 iPhone 앱, 카메라 워커를 빠르게 연결할 수 있는 기술을 선택했습니다.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C33C2-8365-44F6-8623-9E67C76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46578-6B91-4D51-920F-BC3B770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10DFC-6A5A-4E5F-8F5F-1E1D4C6F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8ADB2-7D12-46FF-AC36-A6981D6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0275"/>
            <a:ext cx="386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기술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BAE20-E4D5-4B8D-8951-88C9D445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77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4F10B-8FFF-4753-A4F2-FD8E1AC6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C240E-5C41-467A-8A81-8DFB29EA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5D68A-BF2A-419E-9B93-1B36BB7F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모바일 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B3FF2-6802-414E-94E8-565DC5A9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52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E9565-A494-468C-967A-90BEB8D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5747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Flutter, Dart, Provider, SharedPreferences, http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EDA79-D71D-451E-B472-5F4493A3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577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4F0ED-2EA4-4E9A-9500-9284A81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7475"/>
            <a:ext cx="554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로그인, 차량 등록, 결제수단, 홈 현황판, 주차 내역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043FB-2918-4F67-88E6-95158748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F446C-301E-4066-A34E-BB9B0A05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소셜 인증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2FEB1-FA8F-4E5F-AF6C-A36BA376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B3D2B-19D9-4AE6-B222-D4CABF9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0992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google_sign_in, Kakao SDK, flutter_naver_login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92B08-3CCF-489D-8521-82200EF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577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F4422-7FE4-4F5F-A464-3859EAD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554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앱에서 토큰 획득 후 FastAPI 서버에서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753F2-E989-4C7F-85ED-758FD40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3F442-BC1D-487E-9949-2D06FA8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백엔드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F11B3-FA13-4DEB-92DC-534CA03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576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DDA33-72D1-4E54-973A-F55F3AA3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6237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FastAPI, Uvicorn, Pydantic, httpx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E127F-0F0F-4BB9-BB93-FE9B9B0C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577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24777-DFA3-4953-8395-7A8B509F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554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REST API, 인증, 주차 세션, 요금 계산, 결제 내역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9D567-BF7C-490E-9DE2-BE8738EC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5DBD96-E329-4A24-AA2C-3D061303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저장소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CFD686-98FC-481E-9D28-8087C739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100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2B20D2-AA1A-4399-A7C8-6AA26C5A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Firebase Realtime Database, InMemory Repository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B85ECE-80A9-4079-BFC9-12942A8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577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B6696F-82E7-49D8-ACDF-D1E5576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14825"/>
            <a:ext cx="554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운영/테스트 데이터 저장, 환경변수 없을 때 인메모리 모드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7D7D5E-F87F-491C-BAB7-9115EA3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3BDDAA-CE32-48A7-A8A6-A5DFB67D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비전 처리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591507-ECD2-4C24-A718-C522540E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62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90D06A-288D-4130-BB26-C3865223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6727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OpenCV, EasyOCR, NumPy, PyYAML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A1915D-C0FE-4059-A5B7-E159073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577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A6143A-B052-431B-92BE-F57D5DBF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67275"/>
            <a:ext cx="554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카메라 프레임, 번호판 후보 검출, OCR, 주차면 감지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478618-F9CD-437C-91AE-D51E955A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E36AE0-6777-4877-A029-AF7E3BAC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무선 테스트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5CF8E-1AA9-4CEB-95D0-DA2F15B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FECD66-26F0-4595-909C-06F12AD6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972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Cloudflare Tunnel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029F39-CE01-4F8F-A156-4C979E51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14950"/>
            <a:ext cx="577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678EAC-EA16-4649-B345-8F3E0E80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9725"/>
            <a:ext cx="554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MacBook 로컬 서버를 HTTPS 공개 주소로 임시 노출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4B7925-DC84-4A85-8013-AA27AB98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F4309A-44FF-4CE2-A97D-53091C05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4967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8E7D95-3D73-4028-AEDB-714B346F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23ACB-544A-4120-A8F0-5602CFEE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87ADE-33E6-48F4-8A24-5F7C907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66067-45C5-4D29-B872-CC54A618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F01F7-F2B6-4864-B214-EDCE8D46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AUTH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9255-E163-4016-945F-A8676897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소셜 로그인은 앱이 토큰을 받고 서버가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2618C-1F06-473F-8EFE-89B5341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FastAPI 서버는 구글/카카오/네이버가 발급한 토큰을 그대로 믿지 않고, 각 플랫폼 API를 통해 유효성을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5F2DA-CA68-4FEE-9B88-F50FD4DF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0B4BD-282B-4A39-8286-C6FEAC87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12001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Flutter 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52D1A-4FC6-4A27-A595-C9E68CE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33675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SDK 토큰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9EB27-4180-4705-97A4-4AE2BEC9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33625"/>
            <a:ext cx="2152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78DAA-A5FA-4C0F-8F21-1A758A70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47925"/>
            <a:ext cx="1924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Google ID Token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Kakao/Naver Access 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539F3-C208-404F-B824-960A870F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336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/auth/social-login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70BD9-F2DE-40EF-90DA-D5521320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28875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7B0CA-D6A3-49BD-9AD2-5211735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43175"/>
            <a:ext cx="13906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FastAPI 서버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10CA8-9E9F-499A-B41C-4842286A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33675"/>
            <a:ext cx="64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9A14B-735E-4D12-9791-F4F728A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161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6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3F6D8-DAB9-4563-90CE-EB017DE0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13906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플랫폼 API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사용자 정보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F2623-3731-4938-AB7D-B3A9098A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028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12DD8-BC7A-43BF-B8BC-E482894C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서버가 확인하는 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94AD0-2F16-45F2-9184-7CB37922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토큰 서명/만료/대상 앱/사용자 식별자. 유효하면 Au-Park 사용자 계정을 조회하거나 생성합니다.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CC00D-78D5-4E9E-846E-7D5A322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16740-3E2C-4F59-B196-2AA88862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2EFD4-4A79-4182-90E0-1B5A1C21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638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A749F-B35E-4F54-9F98-0879BCB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67300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조회/생성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71CB2-950A-439F-8C86-9C99F380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3028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F9B9B-1EB3-4B9C-B4B8-3C8BBC2C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57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DB에 남는 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A2B69-1E90-46EC-977D-6F86ECEA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Au-Park 사용자 ID, 이메일/이름 등 서비스에 필요한 최소 프로필과 차량/결제수단 연결 정보입니다.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A77BA-1983-460F-8B54-0373C63F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638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59F80-D04E-4532-B38C-565867E7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67300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users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729B5-19E3-4B8B-8AC4-06B2034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101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BBF2A4-59EA-4023-98E6-D5EE6213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673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vehicles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15FA15-FB51-4E8F-AB59-FB5CD7A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95750"/>
            <a:ext cx="3028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17F955-C997-48AD-B220-BECF9C9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57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앱이 받는 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1A6A32-2F5B-42CE-99D2-D45A15DC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서버 기준 사용자 정보와 이후 API 호출에 필요한 Au-Park 인증 상태입니다.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D9DF9C-7BB4-4FDD-B833-96329C06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BAC20-5F11-4ABF-A108-2ADE4F63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67300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user_id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5D047F-5B12-4044-8CC7-03469EB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101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3E1320-5CB3-4F9E-BF1E-C0104329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067300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session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ABE22D-081F-4958-A466-044EC4A8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6F9BEF-D05E-4616-9B03-AD08A6C2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62625"/>
            <a:ext cx="887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Google은 iOS/Android 클라이언트 ID가 같은 Google Cloud 프로젝트에 있어야 합니다.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F5F91-E662-4308-AF04-8A24501D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05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BD84E-B008-4FC6-B5C1-0D77CF19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29325"/>
            <a:ext cx="887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Kakao/Naver는 앱에서 받은 access token을 서버가 다시 플랫폼 API로 확인합니다.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0988C4-B9A7-4F55-84E5-718A8098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058E19-62AD-4066-AA2A-E29DE9EC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74650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52081-7E3B-42C1-B235-D7F0675E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E446F-E8D9-42CA-AC5F-AB6530C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40142-EB92-4807-B610-6D01DCA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C4622-F1CB-45D1-B840-A84EDF1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F3204-2B02-46F8-8A76-D228BF9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LPR AUTO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58071-3A75-4457-9186-E1012B79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번호판을 한 번 보면 입차, 다시 보면 출차로 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E4322-51D9-45C7-A40F-9D0149BA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Vision Worker는 번호판 문자열을 서버에 보내고, 서버가 활성 세션 존재 여부로 입출차를 결정합니다.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E0605-08AD-4C19-83BB-43535EE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34190-13A1-4E66-835F-CDA6A55E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771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카메라 프레임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Continuity Camera / RTSP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0FF8E-D48E-4C5B-A30D-D2733250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OpenCV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3E6B3-981D-44B0-A9E6-15748CC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22267-947C-4544-91E3-2E4BD06F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7650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번호판 후보 검출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ROI · crop · 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F73F2-D502-40AF-9075-7290849D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반복 2회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1C68D-9D46-411F-AEE3-EE4604C1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57E75-A488-46C4-9F60-AB22A1DF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908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plate_number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lot_id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3DE63-7259-4A24-9396-5343EC81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/lpr/auto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D1784-C10E-4662-A6AE-EAD69BA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ADC73-F722-4749-B8E5-9293ACA8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90800"/>
            <a:ext cx="1390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FastAPI 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9111D-4185-424C-86F5-1DDE9416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서버 내부 판정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BD784-920D-421D-B45C-2BF63318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6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6972C-F1D9-4A1E-A995-344E649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활성 세션 없음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→ 입차 세션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0DD55-84E0-482E-BEE5-3EF49CC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E7D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CF251-22CE-4501-9E1D-F81202DD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29150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활성 세션 있음</a:t>
            </a:r>
          </a:p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→ 출차 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A299B-DE5D-4572-9D89-94C9A7B9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148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D9C2E-7B17-421E-8F58-2FF96000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사전정산 있음</a:t>
            </a:r>
          </a:p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→ 차액만 결제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294D0-4DE6-4478-A743-EBBF68B2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148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E84AA-0203-46FB-B30E-5B55F34B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29150"/>
            <a:ext cx="1771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세션 완료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→ 홈 현황판 제거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6EC26-3749-4F02-8577-661CF959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재인식 준비 로그: LPR auto mode rearmed. Ready for the next vehicle event.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A3A73A-6AC0-4D70-8613-F1BBFCAE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FF38A-3D45-4C1E-A963-E4829CC6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39355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2394B-1C9F-4A7F-97D7-221FF8A6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22CB6-4898-43F4-ABF6-79F02AA8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675F1-A592-4044-9F0B-8F5FA32A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846FA-462F-468F-8031-2B2E27D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B5170-BAB6-4DEF-BD06-189DEF9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FEE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66FF7-AED4-4501-8C48-FB6CA24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사전정산 직후 미정산 금액은 0원이 되어야 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F4CFB-00A7-4C87-8A74-E144103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현황판은 총요금에서 이미 낸 금액을 뺀 outstanding_fee를 보여주고, 출차 시에는 남은 차액만 자동결제합니다.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B3298-DD34-44AB-BC82-7B828064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9107D-CEA8-4D18-B3FC-7C6DE45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0원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2C04F-67F5-4D54-B00B-2B9E8E21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입차 후 30분 이내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07A90-DF77-435F-92A3-89BFBAD3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2E5FE-FBF8-471A-BE4D-5D6068E6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1,500원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A1B3F-57FF-45B9-A443-62A8D4E0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31~60분 기본요금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5F2FF-331A-4788-BF69-A3A9FB8A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8614A-9338-45DB-A01D-42F69C89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+500원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8BEA0-7539-4ADB-8C5B-9360CC74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670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61분부터 10분마다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4644B-8856-4518-9904-CC0FB902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B937C-271C-41F8-8377-FECEA6FF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38375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15,000원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0E64B-7C8C-42AF-9003-1B0CA8A8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일일 최대 요금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32083-497F-462D-A348-79C9ECF8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15789-2846-4286-867D-D2DE44B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현재 총요금</a:t>
            </a:r>
          </a:p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calculate_parking_fee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0E400-A8E3-4EA4-9A63-41A665E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19575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DF909-92A7-47A1-8311-D660FA8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005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6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1DA1F-0B92-49CB-A19D-8B47DB97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사전정산 합계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prepaid_amount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C2121-B9B0-41FF-8AEB-91CA6FD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19575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=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33A3C-C364-4B51-9E63-FDDED988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E7D3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A7680-4E64-4DDE-BF05-55E00C97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현재 내야 할 돈</a:t>
            </a:r>
          </a:p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outstanding_fee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F14FCA-D3AB-4C48-BD74-37EFA497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19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예시: 61분 주차 총요금 2,000원 → 사전정산 2,000원 → 직후 미정산 0원 → 71분이 되면 추가 500원만 발생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DE01D-D5C6-4864-8F4A-FD0DAD4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이번 수정으로 결제 기록과 활성 세션을 공통 매칭 로직으로 연결해 번호판 공백 차이에도 정산 금액이 즉시 반영됩니다.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CCBEEB-D1D7-444E-A40A-F3401FAA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37B41-512F-43F7-921D-1FF1E1A9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36187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D6800-BC7E-457F-BB75-E3D91AA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0CC68-FB94-48AC-B4BE-02EF3A44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5D0F9-F1A7-4B34-91C8-4791632B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9EA4E-482F-48D1-AD14-54E50A5B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0FEBF-F3A9-4057-AABC-BD2F1D6C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MOBILE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F3D81-D612-43EE-A0EA-DC1E240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홈 현황판은 활성 주차 세션의 단일 상태를 따라감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BB077-07F6-4062-9FCB-2D49B63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앱은 active session API를 주기적으로 조회하고, 차량번호·입차시간·요금 분해값을 SharedData에 반영합니다.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C2F2C-4A2A-4387-AC3E-33635D66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9525">
            <a:solidFill>
              <a:srgbClr val="0F1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91442-D163-47FE-9B07-B62A2E5E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320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/api/v1/parking/sessions/active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3BB0D-A893-4C7B-AA03-0CF7D577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서버 응답 필드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9DA6D-5B51-46F0-91C6-8758D48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3C1D4-33CC-4840-8ED8-811F2E5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478D3-BEE3-4021-97C4-7E529BB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차량번호, 입차시간, 상태, 세션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1434B-C682-42F7-891A-A3A1DFD8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638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0AF9E-3DA7-4943-BF22-55658F4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plate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5CEA2-8C32-4588-A9D6-B0098ECD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672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D9F21-BF23-4215-A691-11717F75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244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entry_at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9A2C1-0C5F-4E15-8B56-B028FED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05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B1EAC-284E-40E6-A192-6917BF5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671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fee breakdown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9A373-714C-46BC-8E90-D4DEF01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기본요금, 추가요금, 총요금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EB011-DB8B-41B7-9E25-5A84E90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672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D5112-EE7E-4BC5-9BBC-2CA518E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24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9ACDA-B617-49A0-A87D-BCE30A5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5DCD5-1EBC-47B4-9AD6-3EB4ECA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24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additional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69976-FC7D-4513-8B12-7736EB28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05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6"/>
          </a:solidFill>
          <a:ln xmlns:a="http://schemas.openxmlformats.org/drawingml/2006/main" w="9525">
            <a:solidFill>
              <a:srgbClr val="CBE8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5C7D4-9856-4BB3-A9F6-E0BC3EB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671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payment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273764-91D7-46F9-A969-BF8D8C2B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005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정산완료 금액과 현재 미정산 금액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8FC1C-FC1C-46B0-AAA7-A66DD788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4E0A0-3575-41AF-9BE1-4A005D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24400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prepaid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F003B-A52D-43A9-9608-8F4F071A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67250"/>
            <a:ext cx="1152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0CB9E-F2C3-4E7C-BF94-2ED0E970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244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outstanding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E65569-EFC6-440E-B600-D2221293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CF612A-3530-4A41-A705-51360BC9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671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screen 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58A22-0F22-411F-A77E-6D0CCCB5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005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주차중 여부와 현황판 표시/해제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58330E-9FD6-405A-B743-F45DDEC7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DC565-C7A2-4B7C-ADE8-B93C5690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244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isParked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232AD-0630-4766-8F2E-6FDDAD1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672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350DC8-F1AE-41EF-8067-E559DCFB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24400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history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2907D2-F392-489A-B719-1ABD9477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526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입차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54C5F1-C073-43BA-8770-2C94187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87EC69-7745-4468-997C-A6024F1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정산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F38129-9653-4615-AC7A-D6F99AB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A8977-A68E-4BC0-A999-3F715C06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526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출차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EA39A3-8C24-4874-8EC9-A0BD37E6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192332-3901-4C46-97CB-80C0C963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382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앱 화면은 서버의 계산 결과를 표시하는 쪽에 집중하고, 요금/정산의 기준 판단은 FastAPI에 둡니다.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DE36E1-557B-44FC-B6B6-6881A44B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BF24AF-2D05-4226-9B74-FEF0F97E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43194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4BAACA-7606-4E07-815B-5BE3EAB6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609F7-60B6-46FD-B288-CA0B640C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2E233-1925-4435-9651-4C752F9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D8AC6-DED5-446F-ABA3-769E182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4A6F0-0697-4947-A58F-2DD287BB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VISION WORKER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A5394-7580-4950-8B4F-D46E1D4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지금은 iPhone 카메라로 테스트하고, 나중에 RTSP 카메라로 교체 가능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FDE65-3B37-4114-9F04-B7F56A20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OpenCV로 프레임을 읽고 EasyOCR로 번호판을 읽은 뒤, 반복 확인과 재무장 로직으로 중복 이벤트를 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25406-2752-48FD-BC1D-BC86DBF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3218D-8C17-4542-8429-F735C65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Camera source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source: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CE6BF-A154-43CB-83FC-14077141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193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0.5초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BDF85-FB4A-439E-B193-30FCC07B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FDBC1-C258-4830-8B40-E5B5F56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Frame capture</a:t>
            </a:r>
          </a:p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OpenCV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DC56A-8CE8-4900-BC87-9C20DC9D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ROI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006AB-75C6-41E1-A532-DDD6F413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E0023-B1D0-4221-937B-7FA7566E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Plate crop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D7817-59C3-45E0-8465-0E786E13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1937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OCR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B5348-5738-499E-A544-3CBDC4B8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6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D2FC9-0114-48FD-9E85-13BBDBEE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EasyOCR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2회 반복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A09AA-C294-4631-A545-C824ED5D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22340-7BE0-4C74-A36F-16E82A7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현재 테스트 환경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99B1A-57C6-4BF0-84E2-13437C4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2609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iPhone Continuity Camera를 카메라 source 0으로 사용합니다. 맥북 내장 카메라와 헷갈릴 때 scan-cameras로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2AED2-EE0C-4451-86CE-FCFC6FE9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9A12B-AA64-46F5-B709-65502931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source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5F49E-295D-4857-9143-4D5B2A7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530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3E3A6-4CB8-4036-AB20-94B36B26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101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Continuity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C759F1-B148-4EAC-8F7C-0E971149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24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3FEC7C-17B2-4A9B-ACD7-FDC93BC2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862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운영 전환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1D6CC-2E35-4733-B3B9-4DEB0619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609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TP-Link VIGI 같은 IP 카메라는 RTSP URL을 config.local.yaml에 넣어 교체할 수 있습니다.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5F9FC-99A8-4B14-8C3C-84699D3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780F2-5F80-4C28-87FF-7CE8C7C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RTSP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FF1E3B-37AA-49D2-8473-445840C8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530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48BF27-0D13-4814-8955-954ADE6B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101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B348C-ABC0-404F-AEF6-1DDC5680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24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E7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97684D-A4A6-47F4-AE5D-247E7EA6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862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정확도 개선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25CA9-6D35-4D0E-AD14-B9043812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19600"/>
            <a:ext cx="2609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EasyOCR 테스트 후 운영 단계에서는 번호판 전용 YOLO/ONNX 검출 모델을 붙이는 방향이 좋습니다.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032D0F-058E-4226-B9BB-C8234E6F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601E5E-C116-4609-8544-7657798D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YOLO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2659A-16A9-4D4B-BFB3-D21D8A6E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300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B0D559-0968-4B80-907E-844EE6E5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ONNX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118BBB-044D-4F3A-B79C-AF91758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D5C882-FD14-40D4-A96D-BB5B8946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63401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A7B89-DAFE-41C0-B04F-CCE125EF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CB051-2E29-461A-8C84-B18A432C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9EF9C-66DB-43D5-A6A9-D65E8424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92D04-1C7E-4A72-93A2-5E240658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4D089-9FDE-4FCA-B47B-E53C236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RUNBOOK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15D9B-4FFF-410A-9BF5-C645083C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MacBook 로컬 서버를 Cloudflare Tunnel로 외부 iPhone에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7C783-1871-40C5-8A12-539AF3D9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테스트 단계에서는 클라우드 배포 전에도 HTTPS 공개 주소로 실제 기기 앱과 서버 통신을 검증할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DE292-0E8B-48FA-9482-AF50E204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0B4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4DD42-EEF5-4E6A-AD64-89ACAE8A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  <a:p xmlns:a="http://schemas.openxmlformats.org/drawingml/2006/main">
            <a:pPr algn="ctr">
              <a:def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FastAPI 서버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FA13A-AD6C-4F4C-A99E-A95430C2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6"/>
          </a:solidFill>
          <a:ln xmlns:a="http://schemas.openxmlformats.org/drawingml/2006/main" w="9525">
            <a:solidFill>
              <a:srgbClr val="159A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B09FC-DA39-41BA-B8B0-3880B65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1771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  <a:p xmlns:a="http://schemas.openxmlformats.org/drawingml/2006/main">
            <a:pPr algn="ctr">
              <a:def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9A82"/>
                </a:solidFill>
                <a:latin typeface="Apple SD Gothic Neo"/>
                <a:ea typeface="Apple SD Gothic Neo"/>
                <a:cs typeface="Apple SD Gothic Neo"/>
              </a:rPr>
              <a:t>Cloudflare Tunnel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6E342-7C0D-42F7-B83C-012D627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90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365E-BF86-4301-B516-38B5D801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Flutter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5A0EF-C69D-4469-ABB6-9F89CFC4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90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6E98F-EE7C-42A0-95C1-DE708C1F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Vision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9EEAD-7637-4FA8-9CFA-67ECEC68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E7D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027DF-A306-4F53-B92E-649920E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  <a:p xmlns:a="http://schemas.openxmlformats.org/drawingml/2006/main">
            <a:pPr algn="ctr">
              <a:def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A6B00"/>
                </a:solidFill>
                <a:latin typeface="Apple SD Gothic Neo"/>
                <a:ea typeface="Apple SD Gothic Neo"/>
                <a:cs typeface="Apple SD Gothic Neo"/>
              </a:rPr>
              <a:t>실제 입출차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344CB-CAEF-42C5-A56C-C62F8B1B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9525">
            <a:solidFill>
              <a:srgbClr val="0F1B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029B9-8A8A-4AF5-BB1E-29423F28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61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rPr>
              <a:t>cd /Users/jobyeongik/Documents/GitHub/Au-Park-project/services/api</a:t>
            </a:r>
          </a:p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rPr>
              <a:t>.venv-conda/bin/python -m uvicorn app.main:app --host 127.0.0.1 --port 8000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E13B3-51B2-4149-B279-2586C96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76625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9525">
            <a:solidFill>
              <a:srgbClr val="0F1B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05FEE-D276-41AF-991E-2AC78E7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461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rPr>
              <a:t>cd /Users/jobyeongik/Documents/GitHub/Au-Park-project</a:t>
            </a:r>
          </a:p>
          <a:p xmlns:a="http://schemas.openxmlformats.org/drawingml/2006/main">
            <a:pPr algn="l">
              <a:def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EAF2FF"/>
                </a:solidFill>
                <a:latin typeface="Apple SD Gothic Neo"/>
                <a:ea typeface="Apple SD Gothic Neo"/>
                <a:cs typeface="Apple SD Gothic Neo"/>
              </a:rPr>
              <a:t>./scripts/run_mobile_cloudflare.sh -d 00008110-0011743E2ED1801E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EBC5F-56F0-49F4-BBD8-252A786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실제 iPhone에서 127.0.0.1은 MacBook이 아니라 iPhone 자기 자신입니다. 그래서 release 실행 때 API_BASE_URL은 Cloudflare Tunnel 주소의 /api/v1까지 포함해야 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8B622-861F-4E95-9CAE-8CD81CD8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DAAE1-F364-444B-B80C-0B6B5D1D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3888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E700C-32FA-4263-AA52-A9AACBED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2C9F4-BFD4-43CE-BDE2-982E9CFE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DD8E8-0A45-4D3A-B929-D9FBF68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82905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B8119-F1E9-48BE-935C-8E68D7C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71450"/>
            <a:ext cx="39014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0F302-B851-4980-BD47-BF9F284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9A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9A82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7E05F-CA3B-4140-9A40-00C9B374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현재는 실험 가능한 골격, 다음은 운영 안정성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2A32F-E2F8-422E-8EFE-91FF86E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지금 구조는 학습/테스트에 충분하고, 운영 단계에서는 결제 승인, 고정 도메인, 인식 모델, 관리자 화면을 보강하면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9B1A6-7A60-4AC5-9E49-E8158198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BAE4D-21E5-4BCA-AD49-6F6B4D6E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1. 실제 결제 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2558D-162F-4039-A799-B55DA20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현재는 서버 결제 내역 모델 중심입니다. PortOne 빌링키 결제 API를 서버에 연결하면 실제 자동 출금까지 이어집니다.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5D7AF-2D45-441E-B74C-1F90D132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F7E02-12A6-40C3-8C7A-B310C97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PortOne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EB9BF-DDC1-495E-8755-F2696529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143250"/>
            <a:ext cx="809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E4FA4-8980-44DC-89BB-1C6D301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00400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billing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22EC2-8276-4BB2-847D-E59DEC7F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2A4BF-6B29-4AF1-BFC4-8C576E13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717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2. 배포 안정화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DF5E7-CBDA-43E8-9974-B0B51FE9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Quick Tunnel은 주소가 바뀝니다. named tunnel 또는 Cloud Run으로 고정 주소와 운영 환경을 만들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6CB92-9140-49A6-A108-AD6FE29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022B3-C1C4-45F4-B99F-7C9B541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named tunnel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CA56C-983D-41B1-B26F-817DEDF4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981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1ACFC-E449-4396-B4E2-F0B5D4D6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790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Cloud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9C9B7-DC23-49F0-856C-038CFB5F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7500D-DADC-4237-84FB-F2A6D419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717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3. 번호판 인식 고도화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F6FE6-57C1-40D2-9A96-809217A7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EasyOCR 기반 테스트 이후 YOLO/ONNX 번호판 검출 모델로 정확도와 속도를 개선합니다.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6EBFF-BEF4-4A85-8265-60BBE618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E6CD5-2C01-408B-81E7-EB1DE65A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YOLO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67E0E-C08D-44F5-A05B-C643C2CA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0BD3A-328C-4B92-BC30-F5D40141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ONNX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1F2D2-7B2B-410B-B386-CA0650B3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BA590-2D0B-439D-96F1-550AEFC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4. 주차면 인식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82F1F-9EC9-4790-8DEB-13BF2074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빈 주차장 기준 이미지 또는 차량 검출 + 주차면 ROI 교차 판정 방식으로 확장합니다.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9005E5-CA83-4FBD-8092-0038338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F92308-08D9-4175-93A6-3D195B67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ROI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C49D0A-D00B-4EF1-9FCF-570CBCFE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981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CEDA82-3107-42B6-BCE7-6E2EBE52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790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occupancy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AB23B2-D0BA-491D-AACE-D3951D13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CCC82-92B8-43D3-ADE4-7D0C187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624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5. 관리자 대시보드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7B9C03-2871-4BD6-9B77-A87112A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C7B"/>
                </a:solidFill>
                <a:latin typeface="Apple SD Gothic Neo"/>
                <a:ea typeface="Apple SD Gothic Neo"/>
                <a:cs typeface="Apple SD Gothic Neo"/>
              </a:rPr>
              <a:t>apps/admin_dashboard 영역에 입출차 로그, 정산 내역, 주차면 상태 관리 화면을 구현합니다.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EBEEEE-1314-4569-9D45-B383A49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33950"/>
            <a:ext cx="638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5E2DE3-F948-45C3-9364-AE500DE4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91100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admin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3CD820-0932-4EC8-9C3A-74C2959D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33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9525">
            <a:solidFill>
              <a:srgbClr val="D5E5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9A0890-42EC-4B4A-B3F7-0654FD2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911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logs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9E476-38EC-416E-9912-142D8B0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4F8A"/>
                </a:solidFill>
                <a:latin typeface="Apple SD Gothic Neo"/>
                <a:ea typeface="Apple SD Gothic Neo"/>
                <a:cs typeface="Apple SD Gothic Neo"/>
              </a:rPr>
              <a:t>발표 결론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1C7F90-7AA7-4B72-BBFE-8FBD1EAB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DD12DF-93C9-4B1A-BEF7-38FD3131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2876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앱은 사용자 경험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04F504-8C39-49D4-99CB-650B9558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B5FC1B-ADFC-41B5-A8D3-365ECBFE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91075"/>
            <a:ext cx="2876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서버는 신뢰 가능한 판단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D36849-F4E1-4175-B136-2492A85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490D29-8F7B-4E23-9655-20A9ED93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67300"/>
            <a:ext cx="2876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비전 워커는 현실 이벤트 입력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7E703E-5369-4FCB-93E4-C0252F9F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51A3CF-18D7-4A42-9EFD-907945E9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43525"/>
            <a:ext cx="2876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DB는 상태의 단일 기준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F4927B-48BD-4BF6-A20C-E5B1E946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Au-Park Project Overview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DE0C65-DDC7-481F-9509-CFC17479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2287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2026-06-08T19:15:32.7740000Z</dcterms:created>
  <dcterms:modified xsi:type="dcterms:W3CDTF">2026-06-08T19:15:32.7740000Z</dcterms:modified>
</coreProperties>
</file>